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424FF"/>
          </a:solidFill>
          <a:ln w="12700">
            <a:solidFill>
              <a:srgbClr val="242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242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MRANTI x GRADUAN  ·  K-YOUTH DEVELOPMENT PROGRAMME 2026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144000" y="20116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6E72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CENTRE BRIEF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2700">
            <a:solidFill>
              <a:srgbClr val="E4E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8E95"/>
                </a:solidFill>
              </a:rPr>
              <a:t>Working programme calendar · 13 Aug–2 Oct 2026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E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E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85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2424FF"/>
                </a:solidFill>
              </a:rPr>
              <a:t>PROGRAMME POSITIONING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1116"/>
                </a:solidFill>
              </a:rPr>
              <a:t>A command centre, not another programme deck.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E727C"/>
                </a:solidFill>
              </a:rPr>
              <a:t>The operating hub is organised around one simple flow: select the date → see the agenda → open the material → know what must exist by the end of the session.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2423160"/>
            <a:ext cx="70408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974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2424FF"/>
                </a:solidFill>
              </a:rPr>
              <a:t>WHAT THIS CHANGES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22960" y="2990088"/>
            <a:ext cx="6309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1116"/>
                </a:solidFill>
              </a:rPr>
              <a:t>No hunting through folders.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01116"/>
                </a:solidFill>
              </a:rPr>
              <a:t>No guessing what happens next.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01116"/>
                </a:solidFill>
              </a:rPr>
              <a:t>No separate “facilitator manual” to interpret.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4526280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E727C"/>
                </a:solidFill>
              </a:rPr>
              <a:t>Every scheduled touchpoint has a Day Pack containing the exact agenda, owner, preparation, expected outputs and direct material links.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18120" y="2423160"/>
            <a:ext cx="3794760" cy="3246120"/>
          </a:xfrm>
          <a:prstGeom prst="roundRect">
            <a:avLst/>
          </a:prstGeom>
          <a:solidFill>
            <a:srgbClr val="2424FF"/>
          </a:solidFill>
          <a:ln w="12700">
            <a:solidFill>
              <a:srgbClr val="242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285292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Problem  →  Build  →  Deploy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66760" y="37033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EAEAFC"/>
                </a:solidFill>
              </a:rPr>
              <a:t>4 graduates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AEAFC"/>
                </a:solidFill>
              </a:rPr>
              <a:t>20 Aug intake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AEAFC"/>
                </a:solidFill>
              </a:rPr>
              <a:t>2 Oct showcase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66760" y="498348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Success = visible, useful outputs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E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85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2424FF"/>
                </a:solidFill>
              </a:rPr>
              <a:t>CALENDAR &amp; ROADMAP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1116"/>
                </a:solidFill>
              </a:rPr>
              <a:t>The full programme on one page.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E727C"/>
                </a:solidFill>
              </a:rPr>
              <a:t>Preparation is completed before the intake; the remaining six weeks move from controlled practice into real MRANTI work, validation, QA and showcase.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2487168"/>
            <a:ext cx="1316736" cy="22860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E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61518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424FF"/>
                </a:solidFill>
              </a:rPr>
              <a:t>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E727C"/>
                </a:solidFill>
              </a:rPr>
              <a:t>13–19 Aug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116"/>
                </a:solidFill>
              </a:rPr>
              <a:t>Readiness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904488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E727C"/>
                </a:solidFill>
              </a:rPr>
              <a:t>Challenges, sponsors, tools &amp; room ready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1956816" y="2487168"/>
            <a:ext cx="1316736" cy="2286000"/>
          </a:xfrm>
          <a:prstGeom prst="roundRect">
            <a:avLst>
              <a:gd name="adj" fmla="val 11111"/>
            </a:avLst>
          </a:prstGeom>
          <a:solidFill>
            <a:srgbClr val="2424FF"/>
          </a:solidFill>
          <a:ln w="12700">
            <a:solidFill>
              <a:srgbClr val="242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75688" y="261518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02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075688" y="28803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8D8FF"/>
                </a:solidFill>
              </a:rPr>
              <a:t>20–21 Aug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075688" y="324612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Activation Lab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75688" y="3904488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8D8FF"/>
                </a:solidFill>
              </a:rPr>
              <a:t>Problem → live prototype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3346704" y="2487168"/>
            <a:ext cx="1316736" cy="22860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E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65576" y="261518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424FF"/>
                </a:solidFill>
              </a:rPr>
              <a:t>03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465576" y="28803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E727C"/>
                </a:solidFill>
              </a:rPr>
              <a:t>24–28 Aug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65576" y="324612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116"/>
                </a:solidFill>
              </a:rPr>
              <a:t>Division Discovery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65576" y="3904488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E727C"/>
                </a:solidFill>
              </a:rPr>
              <a:t>Real problem scoped with sponsor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4736592" y="2487168"/>
            <a:ext cx="1316736" cy="22860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E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55464" y="261518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424FF"/>
                </a:solidFill>
              </a:rPr>
              <a:t>04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855464" y="28803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E727C"/>
                </a:solidFill>
              </a:rPr>
              <a:t>1–4 Sep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55464" y="324612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116"/>
                </a:solidFill>
              </a:rPr>
              <a:t>Build Sprint 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55464" y="3904488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E727C"/>
                </a:solidFill>
              </a:rPr>
              <a:t>First sponsor-usable version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6126480" y="2487168"/>
            <a:ext cx="1316736" cy="22860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E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45352" y="261518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424FF"/>
                </a:solidFill>
              </a:rPr>
              <a:t>05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245352" y="28803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E727C"/>
                </a:solidFill>
              </a:rPr>
              <a:t>8–11 Sep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45352" y="324612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116"/>
                </a:solidFill>
              </a:rPr>
              <a:t>Validate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45352" y="3904488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E727C"/>
                </a:solidFill>
              </a:rPr>
              <a:t>Internal user testing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7516368" y="2487168"/>
            <a:ext cx="1316736" cy="22860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E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35240" y="261518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424FF"/>
                </a:solidFill>
              </a:rPr>
              <a:t>06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635240" y="28803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E727C"/>
                </a:solidFill>
              </a:rPr>
              <a:t>14–18 Sep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635240" y="324612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116"/>
                </a:solidFill>
              </a:rPr>
              <a:t>Build Sprint 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635240" y="3904488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E727C"/>
                </a:solidFill>
              </a:rPr>
              <a:t>Evidence + usability + story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8906256" y="2487168"/>
            <a:ext cx="1316736" cy="22860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E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25128" y="261518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424FF"/>
                </a:solidFill>
              </a:rPr>
              <a:t>07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9025128" y="28803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E727C"/>
                </a:solidFill>
              </a:rPr>
              <a:t>21–25 Sep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025128" y="324612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116"/>
                </a:solidFill>
              </a:rPr>
              <a:t>Final Build &amp; QA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025128" y="3904488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E727C"/>
                </a:solidFill>
              </a:rPr>
              <a:t>Deployment and handover ready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10296144" y="2487168"/>
            <a:ext cx="1316736" cy="22860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E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415016" y="261518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424FF"/>
                </a:solidFill>
              </a:rPr>
              <a:t>08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0415016" y="28803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E727C"/>
                </a:solidFill>
              </a:rPr>
              <a:t>28 Sep–2 Oct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415016" y="324612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116"/>
                </a:solidFill>
              </a:rPr>
              <a:t>Showcase &amp; Handover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415016" y="3904488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E727C"/>
                </a:solidFill>
              </a:rPr>
              <a:t>Management showcase + next step</a:t>
            </a:r>
            <a:endParaRPr lang="en-US" sz="740" dirty="0"/>
          </a:p>
        </p:txBody>
      </p:sp>
      <p:sp>
        <p:nvSpPr>
          <p:cNvPr id="45" name="Shape 43"/>
          <p:cNvSpPr/>
          <p:nvPr/>
        </p:nvSpPr>
        <p:spPr>
          <a:xfrm>
            <a:off x="566928" y="5074920"/>
            <a:ext cx="242316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E4E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4088" y="5193792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6E727C"/>
                </a:solidFill>
              </a:rPr>
              <a:t>INTAKE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704088" y="538581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116"/>
                </a:solidFill>
              </a:rPr>
              <a:t>Thu · 20 Aug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127248" y="5074920"/>
            <a:ext cx="242316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E4E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64408" y="5193792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6E727C"/>
                </a:solidFill>
              </a:rPr>
              <a:t>OPERATING RHYTHM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3264408" y="538581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116"/>
                </a:solidFill>
              </a:rPr>
              <a:t>Sponsor demos + clinics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687568" y="5074920"/>
            <a:ext cx="242316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E4E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24728" y="5193792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6E727C"/>
                </a:solidFill>
              </a:rPr>
              <a:t>FINAL SHOWCASE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5824728" y="538581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116"/>
                </a:solidFill>
              </a:rPr>
              <a:t>Fri · 2 Oct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247888" y="5074920"/>
            <a:ext cx="274320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E4E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85048" y="5193792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6E727C"/>
                </a:solidFill>
              </a:rPr>
              <a:t>MEASURE OF PROGRESS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8385048" y="53858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116"/>
                </a:solidFill>
              </a:rPr>
              <a:t>Working links + sponsor usefulness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E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85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2424FF"/>
                </a:solidFill>
              </a:rPr>
              <a:t>HOW THE TEAM USES IT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1116"/>
                </a:solidFill>
              </a:rPr>
              <a:t>One date = one complete Day Pack.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E727C"/>
                </a:solidFill>
              </a:rPr>
              <a:t>A teammate does not need to understand the entire programme to run their part. They open the date and everything required for that session is already there.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2487168"/>
            <a:ext cx="2606040" cy="2423160"/>
          </a:xfrm>
          <a:prstGeom prst="roundRect">
            <a:avLst>
              <a:gd name="adj" fmla="val 6038"/>
            </a:avLst>
          </a:prstGeom>
          <a:solidFill>
            <a:srgbClr val="2424FF"/>
          </a:solidFill>
          <a:ln w="12700">
            <a:solidFill>
              <a:srgbClr val="242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70048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31520" y="312724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SELECT DATE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2240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D9D9FF"/>
                </a:solidFill>
              </a:rPr>
              <a:t>Choose the scheduled touchpoint from the programme calendar.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55848" y="2487168"/>
            <a:ext cx="2606040" cy="2423160"/>
          </a:xfrm>
          <a:prstGeom prst="roundRect">
            <a:avLst>
              <a:gd name="adj" fmla="val 6038"/>
            </a:avLst>
          </a:prstGeom>
          <a:solidFill>
            <a:srgbClr val="FFFFFF"/>
          </a:solidFill>
          <a:ln w="12700">
            <a:solidFill>
              <a:srgbClr val="E4E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2670048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424FF"/>
                </a:solidFill>
              </a:rPr>
              <a:t>02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520440" y="312724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116"/>
                </a:solidFill>
              </a:rPr>
              <a:t>READ AGENDA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3703320"/>
            <a:ext cx="2240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E727C"/>
                </a:solidFill>
              </a:rPr>
              <a:t>See timing, session purpose, owner and expected output.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44768" y="2487168"/>
            <a:ext cx="2606040" cy="2423160"/>
          </a:xfrm>
          <a:prstGeom prst="roundRect">
            <a:avLst>
              <a:gd name="adj" fmla="val 6038"/>
            </a:avLst>
          </a:prstGeom>
          <a:solidFill>
            <a:srgbClr val="FFFFFF"/>
          </a:solidFill>
          <a:ln w="12700">
            <a:solidFill>
              <a:srgbClr val="E4E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670048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424FF"/>
                </a:solidFill>
              </a:rPr>
              <a:t>03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309360" y="312724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116"/>
                </a:solidFill>
              </a:rPr>
              <a:t>OPEN MATERIAL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3703320"/>
            <a:ext cx="2240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E727C"/>
                </a:solidFill>
              </a:rPr>
              <a:t>Launch the exact worksheet, prompt, guide or checklist for that day.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933688" y="2487168"/>
            <a:ext cx="2606040" cy="2423160"/>
          </a:xfrm>
          <a:prstGeom prst="roundRect">
            <a:avLst>
              <a:gd name="adj" fmla="val 6038"/>
            </a:avLst>
          </a:prstGeom>
          <a:solidFill>
            <a:srgbClr val="FFFFFF"/>
          </a:solidFill>
          <a:ln w="12700">
            <a:solidFill>
              <a:srgbClr val="E4E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2670048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424FF"/>
                </a:solidFill>
              </a:rPr>
              <a:t>04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9098280" y="312724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116"/>
                </a:solidFill>
              </a:rPr>
              <a:t>CLOSE THE OUTPUT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98280" y="3703320"/>
            <a:ext cx="2240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E727C"/>
                </a:solidFill>
              </a:rPr>
              <a:t>Know what must exist before the session can be considered complete.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66928" y="5166360"/>
            <a:ext cx="10963656" cy="566928"/>
          </a:xfrm>
          <a:prstGeom prst="roundRect">
            <a:avLst>
              <a:gd name="adj" fmla="val 25806"/>
            </a:avLst>
          </a:prstGeom>
          <a:solidFill>
            <a:srgbClr val="12131A"/>
          </a:solidFill>
          <a:ln w="12700">
            <a:solidFill>
              <a:srgbClr val="1213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349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Example  ·  20 Aug Activation Day  →  exact 09:00–16:30 agenda  →  facilitator guide + graduate workbook + case study + prompt pack + GitHub guide  →  live prototype by end of day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E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85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2424FF"/>
                </a:solidFill>
              </a:rPr>
              <a:t>20 AUGUST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1116"/>
                </a:solidFill>
              </a:rPr>
              <a:t>Activation Day: problem to live prototype.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E727C"/>
                </a:solidFill>
              </a:rPr>
              <a:t>This is the first major Day Pack and the teaching model the graduates will repeat in their real division projects.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24597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424FF"/>
                </a:solidFill>
              </a:rPr>
              <a:t>09:00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1600" y="241401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116"/>
                </a:solidFill>
              </a:rPr>
              <a:t>Positioning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60520" y="24323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27C"/>
                </a:solidFill>
              </a:rPr>
              <a:t>Problem note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8368" y="2761488"/>
            <a:ext cx="5349240" cy="0"/>
          </a:xfrm>
          <a:prstGeom prst="line">
            <a:avLst/>
          </a:prstGeom>
          <a:noFill/>
          <a:ln w="12700">
            <a:solidFill>
              <a:srgbClr val="E4E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3522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424FF"/>
                </a:solidFill>
              </a:rPr>
              <a:t>09:20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371600" y="288950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116"/>
                </a:solidFill>
              </a:rPr>
              <a:t>Problem discovery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60520" y="29077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27C"/>
                </a:solidFill>
              </a:rPr>
              <a:t>Problem statement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58368" y="3236976"/>
            <a:ext cx="5349240" cy="0"/>
          </a:xfrm>
          <a:prstGeom prst="line">
            <a:avLst/>
          </a:prstGeom>
          <a:noFill/>
          <a:ln w="12700">
            <a:solidFill>
              <a:srgbClr val="E4E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41071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424FF"/>
                </a:solidFill>
              </a:rPr>
              <a:t>10:10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371600" y="33649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116"/>
                </a:solidFill>
              </a:rPr>
              <a:t>AI requirements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60520" y="3383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27C"/>
                </a:solidFill>
              </a:rPr>
              <a:t>Requirement brief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58368" y="3712464"/>
            <a:ext cx="5349240" cy="0"/>
          </a:xfrm>
          <a:prstGeom prst="line">
            <a:avLst/>
          </a:prstGeom>
          <a:noFill/>
          <a:ln w="12700">
            <a:solidFill>
              <a:srgbClr val="E4E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8862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424FF"/>
                </a:solidFill>
              </a:rPr>
              <a:t>11:00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371600" y="38404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116"/>
                </a:solidFill>
              </a:rPr>
              <a:t>Build web 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60520" y="3858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27C"/>
                </a:solidFill>
              </a:rPr>
              <a:t>Local prototype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58368" y="4187952"/>
            <a:ext cx="5349240" cy="0"/>
          </a:xfrm>
          <a:prstGeom prst="line">
            <a:avLst/>
          </a:prstGeom>
          <a:noFill/>
          <a:ln w="12700">
            <a:solidFill>
              <a:srgbClr val="E4E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3616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424FF"/>
                </a:solidFill>
              </a:rPr>
              <a:t>14:00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371600" y="431596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116"/>
                </a:solidFill>
              </a:rPr>
              <a:t>GitHub Pages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60520" y="43342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27C"/>
                </a:solidFill>
              </a:rPr>
              <a:t>Live link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58368" y="4663440"/>
            <a:ext cx="5349240" cy="0"/>
          </a:xfrm>
          <a:prstGeom prst="line">
            <a:avLst/>
          </a:prstGeom>
          <a:noFill/>
          <a:ln w="12700">
            <a:solidFill>
              <a:srgbClr val="E4E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83717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424FF"/>
                </a:solidFill>
              </a:rPr>
              <a:t>15:00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371600" y="479145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116"/>
                </a:solidFill>
              </a:rPr>
              <a:t>Mini showcase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60520" y="4809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27C"/>
                </a:solidFill>
              </a:rPr>
              <a:t>Feedback backlog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58368" y="5138928"/>
            <a:ext cx="5349240" cy="0"/>
          </a:xfrm>
          <a:prstGeom prst="line">
            <a:avLst/>
          </a:prstGeom>
          <a:noFill/>
          <a:ln w="12700">
            <a:solidFill>
              <a:srgbClr val="E4E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531266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424FF"/>
                </a:solidFill>
              </a:rPr>
              <a:t>16:00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371600" y="526694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116"/>
                </a:solidFill>
              </a:rPr>
              <a:t>Division next steps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60520" y="52852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27C"/>
                </a:solidFill>
              </a:rPr>
              <a:t>Workstream assignment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58368" y="5614416"/>
            <a:ext cx="5349240" cy="0"/>
          </a:xfrm>
          <a:prstGeom prst="line">
            <a:avLst/>
          </a:prstGeom>
          <a:noFill/>
          <a:ln w="12700">
            <a:solidFill>
              <a:srgbClr val="E4E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46520" y="2395728"/>
            <a:ext cx="5029200" cy="3328416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4E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26517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10" kern="0" dirty="0">
                <a:solidFill>
                  <a:srgbClr val="2424FF"/>
                </a:solidFill>
              </a:rPr>
              <a:t>MATERIALS IN THE DAY PACK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720840" y="3063240"/>
            <a:ext cx="2057400" cy="566928"/>
          </a:xfrm>
          <a:prstGeom prst="roundRect">
            <a:avLst>
              <a:gd name="adj" fmla="val 25806"/>
            </a:avLst>
          </a:prstGeom>
          <a:solidFill>
            <a:srgbClr val="F8F8FF"/>
          </a:solidFill>
          <a:ln w="12700">
            <a:solidFill>
              <a:srgbClr val="E4E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30568" y="3218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01116"/>
                </a:solidFill>
              </a:rPr>
              <a:t>Facilitator Guide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961120" y="3063240"/>
            <a:ext cx="2057400" cy="566928"/>
          </a:xfrm>
          <a:prstGeom prst="roundRect">
            <a:avLst>
              <a:gd name="adj" fmla="val 25806"/>
            </a:avLst>
          </a:prstGeom>
          <a:solidFill>
            <a:srgbClr val="F8F8FF"/>
          </a:solidFill>
          <a:ln w="12700">
            <a:solidFill>
              <a:srgbClr val="E4E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70848" y="3218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01116"/>
                </a:solidFill>
              </a:rPr>
              <a:t>Graduate Workbook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720840" y="3813048"/>
            <a:ext cx="2057400" cy="566928"/>
          </a:xfrm>
          <a:prstGeom prst="roundRect">
            <a:avLst>
              <a:gd name="adj" fmla="val 25806"/>
            </a:avLst>
          </a:prstGeom>
          <a:solidFill>
            <a:srgbClr val="F8F8FF"/>
          </a:solidFill>
          <a:ln w="12700">
            <a:solidFill>
              <a:srgbClr val="E4E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30568" y="39684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01116"/>
                </a:solidFill>
              </a:rPr>
              <a:t>Activation Day Case Study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961120" y="3813048"/>
            <a:ext cx="2057400" cy="566928"/>
          </a:xfrm>
          <a:prstGeom prst="roundRect">
            <a:avLst>
              <a:gd name="adj" fmla="val 25806"/>
            </a:avLst>
          </a:prstGeom>
          <a:solidFill>
            <a:srgbClr val="F8F8FF"/>
          </a:solidFill>
          <a:ln w="12700">
            <a:solidFill>
              <a:srgbClr val="E4E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70848" y="39684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01116"/>
                </a:solidFill>
              </a:rPr>
              <a:t>AI Prompt Pack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720840" y="4562856"/>
            <a:ext cx="2057400" cy="566928"/>
          </a:xfrm>
          <a:prstGeom prst="roundRect">
            <a:avLst>
              <a:gd name="adj" fmla="val 25806"/>
            </a:avLst>
          </a:prstGeom>
          <a:solidFill>
            <a:srgbClr val="F8F8FF"/>
          </a:solidFill>
          <a:ln w="12700">
            <a:solidFill>
              <a:srgbClr val="E4E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30568" y="4718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01116"/>
                </a:solidFill>
              </a:rPr>
              <a:t>GitHub Pages Quick Guide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961120" y="4562856"/>
            <a:ext cx="2057400" cy="566928"/>
          </a:xfrm>
          <a:prstGeom prst="roundRect">
            <a:avLst>
              <a:gd name="adj" fmla="val 25806"/>
            </a:avLst>
          </a:prstGeom>
          <a:solidFill>
            <a:srgbClr val="F8F8FF"/>
          </a:solidFill>
          <a:ln w="12700">
            <a:solidFill>
              <a:srgbClr val="E4E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70848" y="4718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01116"/>
                </a:solidFill>
              </a:rPr>
              <a:t>Starter Prototype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E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85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2424FF"/>
                </a:solidFill>
              </a:rPr>
              <a:t>DECISION POINTS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1116"/>
                </a:solidFill>
              </a:rPr>
              <a:t>What needs to be locked before the graduates arrive.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E727C"/>
                </a:solidFill>
              </a:rPr>
              <a:t>The Command Centre is already structured. The remaining management input is deliberately small and operational.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238658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424FF"/>
                </a:solidFill>
              </a:rPr>
              <a:t>01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88720" y="23317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116"/>
                </a:solidFill>
              </a:rPr>
              <a:t>4 challenge areas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49040" y="233172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E727C"/>
                </a:solidFill>
              </a:rPr>
              <a:t>Choose real, bounded problems that can show a useful first version quickly.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2788920"/>
            <a:ext cx="10424160" cy="0"/>
          </a:xfrm>
          <a:prstGeom prst="line">
            <a:avLst/>
          </a:prstGeom>
          <a:noFill/>
          <a:ln w="12700">
            <a:solidFill>
              <a:srgbClr val="E4E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04495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424FF"/>
                </a:solidFill>
              </a:rPr>
              <a:t>02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88720" y="29900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116"/>
                </a:solidFill>
              </a:rPr>
              <a:t>4 sponsors / reviewers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49040" y="2990088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E727C"/>
                </a:solidFill>
              </a:rPr>
              <a:t>Each graduate needs one person who can validate the business usefulness every week.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3447288"/>
            <a:ext cx="10424160" cy="0"/>
          </a:xfrm>
          <a:prstGeom prst="line">
            <a:avLst/>
          </a:prstGeom>
          <a:noFill/>
          <a:ln w="12700">
            <a:solidFill>
              <a:srgbClr val="E4E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7033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424FF"/>
                </a:solidFill>
              </a:rPr>
              <a:t>03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88720" y="364845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116"/>
                </a:solidFill>
              </a:rPr>
              <a:t>Data &amp; access boundary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3648456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E727C"/>
                </a:solidFill>
              </a:rPr>
              <a:t>Confirm what information can be used and what must remain internal.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" y="4105656"/>
            <a:ext cx="10424160" cy="0"/>
          </a:xfrm>
          <a:prstGeom prst="line">
            <a:avLst/>
          </a:prstGeom>
          <a:noFill/>
          <a:ln w="12700">
            <a:solidFill>
              <a:srgbClr val="E4E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36168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424FF"/>
                </a:solidFill>
              </a:rPr>
              <a:t>04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88720" y="43068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116"/>
                </a:solidFill>
              </a:rPr>
              <a:t>Prototype delivery approval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49040" y="4306824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E727C"/>
                </a:solidFill>
              </a:rPr>
              <a:t>Confirm GitHub Pages can be used for non-sensitive working prototypes.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" y="4764024"/>
            <a:ext cx="10424160" cy="0"/>
          </a:xfrm>
          <a:prstGeom prst="line">
            <a:avLst/>
          </a:prstGeom>
          <a:noFill/>
          <a:ln w="12700">
            <a:solidFill>
              <a:srgbClr val="E4E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502005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424FF"/>
                </a:solidFill>
              </a:rPr>
              <a:t>05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88720" y="49651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116"/>
                </a:solidFill>
              </a:rPr>
              <a:t>Final showcase audience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49040" y="496519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E727C"/>
                </a:solidFill>
              </a:rPr>
              <a:t>Confirm who should attend on 2 October and what follow-up decisions are expected.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8368" y="5422392"/>
            <a:ext cx="10424160" cy="0"/>
          </a:xfrm>
          <a:prstGeom prst="line">
            <a:avLst/>
          </a:prstGeom>
          <a:noFill/>
          <a:ln w="12700">
            <a:solidFill>
              <a:srgbClr val="E4E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5760720"/>
            <a:ext cx="10424160" cy="438912"/>
          </a:xfrm>
          <a:prstGeom prst="roundRect">
            <a:avLst>
              <a:gd name="adj" fmla="val 33333"/>
            </a:avLst>
          </a:prstGeom>
          <a:solidFill>
            <a:srgbClr val="2424FF"/>
          </a:solidFill>
          <a:ln w="12700">
            <a:solidFill>
              <a:srgbClr val="242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897880"/>
            <a:ext cx="9875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Once these are confirmed, the team can operate from the Command Centre date-by-date.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8B8E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MRANTI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K-Youth Command Centre Brief</dc:title>
  <dc:subject>MRANTI x GRADUAN K-Youth Development Programme 2026</dc:subject>
  <dc:creator>OpenAI</dc:creator>
  <cp:lastModifiedBy>OpenAI</cp:lastModifiedBy>
  <cp:revision>1</cp:revision>
  <dcterms:created xsi:type="dcterms:W3CDTF">2026-08-13T07:21:17Z</dcterms:created>
  <dcterms:modified xsi:type="dcterms:W3CDTF">2026-08-13T07:21:17Z</dcterms:modified>
</cp:coreProperties>
</file>